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F4FB"/>
    <a:srgbClr val="1A73E8"/>
    <a:srgbClr val="00968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550" y="12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AFF49-E75D-48B7-AC73-E79A9CDFF22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90070-2D19-404B-9A54-128D4DBD4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90070-2D19-404B-9A54-128D4DBD48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2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937053" cy="804672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200729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10972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C4A6B"/>
                </a:solidFill>
                <a:latin typeface="Calibri"/>
              </a:rPr>
              <a:t>Université Hassan 1er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École Nationale des Sciences Appliquées – Berrechid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7498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Filière : Génie Informatique  |  Module : Développement Mobile  |  Semestre S8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15568"/>
            <a:ext cx="109728" cy="5394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81967" y="1115568"/>
            <a:ext cx="109728" cy="5394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C4A6B"/>
                </a:solidFill>
                <a:latin typeface="Calibri Light"/>
              </a:rPr>
              <a:t>AI Study Assistant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852928"/>
            <a:ext cx="484632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64748B"/>
                </a:solidFill>
                <a:latin typeface="Calibri"/>
              </a:rPr>
              <a:t>Application mobile intelligente d'aide à l'apprentissage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327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 dirty="0" err="1">
                <a:solidFill>
                  <a:srgbClr val="1A233A"/>
                </a:solidFill>
                <a:latin typeface="Calibri"/>
              </a:rPr>
              <a:t>Réalisé</a:t>
            </a:r>
            <a:r>
              <a:rPr sz="1350" b="0" i="0" dirty="0">
                <a:solidFill>
                  <a:srgbClr val="1A233A"/>
                </a:solidFill>
                <a:latin typeface="Calibri"/>
              </a:rPr>
              <a:t> par : </a:t>
            </a:r>
            <a:r>
              <a:rPr sz="1350" b="0" i="0" dirty="0" err="1">
                <a:solidFill>
                  <a:srgbClr val="1A233A"/>
                </a:solidFill>
                <a:latin typeface="Calibri"/>
              </a:rPr>
              <a:t>Mjahdi</a:t>
            </a:r>
            <a:r>
              <a:rPr sz="1350" b="0" i="0" dirty="0">
                <a:solidFill>
                  <a:srgbClr val="1A233A"/>
                </a:solidFill>
                <a:latin typeface="Calibri"/>
              </a:rPr>
              <a:t> Abdel</a:t>
            </a:r>
            <a:r>
              <a:rPr lang="fr-FR" sz="1350" b="0" i="0" dirty="0">
                <a:solidFill>
                  <a:srgbClr val="1A233A"/>
                </a:solidFill>
                <a:latin typeface="Calibri"/>
              </a:rPr>
              <a:t>ou</a:t>
            </a:r>
            <a:r>
              <a:rPr sz="1350" b="0" i="0" dirty="0" err="1">
                <a:solidFill>
                  <a:srgbClr val="1A233A"/>
                </a:solidFill>
                <a:latin typeface="Calibri"/>
              </a:rPr>
              <a:t>ahab</a:t>
            </a:r>
            <a:r>
              <a:rPr sz="1350" b="0" i="0" dirty="0">
                <a:solidFill>
                  <a:srgbClr val="1A233A"/>
                </a:solidFill>
                <a:latin typeface="Calibri"/>
              </a:rPr>
              <a:t>  &amp;  Zakaria </a:t>
            </a:r>
            <a:r>
              <a:rPr sz="1350" b="0" i="0" dirty="0" err="1">
                <a:solidFill>
                  <a:srgbClr val="1A233A"/>
                </a:solidFill>
                <a:latin typeface="Calibri"/>
              </a:rPr>
              <a:t>Ennaqui</a:t>
            </a:r>
            <a:endParaRPr sz="1350" b="0" i="0" dirty="0">
              <a:solidFill>
                <a:srgbClr val="1A233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261103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1A233A"/>
                </a:solidFill>
                <a:latin typeface="Calibri"/>
              </a:rPr>
              <a:t>Encadrant : Prof. Abdsamad Jarrar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7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1A233A"/>
                </a:solidFill>
                <a:latin typeface="Calibri"/>
              </a:rPr>
              <a:t>Année universitaire : 2025 /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483096"/>
            <a:ext cx="11612880" cy="3474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AI Study Assistant  |  ENSA Berrechid  | 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Plan de la présentation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08760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08760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087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45336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508760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1508760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1545336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Objectifs du projet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93392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1993392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199339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029968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Architecture générale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993392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993392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99339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029968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Technologies utilisées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78024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2478024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47802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514600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Authentification &amp; sécurité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478024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478024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47802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2514600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Module de génération 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62656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2962656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29626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2999232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Intégration de l'IA – Google Gemini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62656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62656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29626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2999232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Quiz interactif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447288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3447288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4472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3483864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Résumés, Flashcards &amp; Historique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447288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447288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34472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3483864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C4A6B"/>
                </a:solidFill>
                <a:latin typeface="Calibri"/>
              </a:rPr>
              <a:t>Interface </a:t>
            </a:r>
            <a:r>
              <a:rPr sz="1200" b="0" i="0" dirty="0" err="1">
                <a:solidFill>
                  <a:srgbClr val="3C4A6B"/>
                </a:solidFill>
                <a:latin typeface="Calibri"/>
              </a:rPr>
              <a:t>utilisateur</a:t>
            </a:r>
            <a:endParaRPr sz="1200" b="0" i="0" dirty="0">
              <a:solidFill>
                <a:srgbClr val="3C4A6B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57200" y="3931920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3931920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393192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3968496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C4A6B"/>
                </a:solidFill>
                <a:latin typeface="Calibri"/>
              </a:rPr>
              <a:t>Base de données &amp; API REST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16552"/>
            <a:ext cx="5394960" cy="420624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57200" y="4416552"/>
            <a:ext cx="420624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4416552"/>
            <a:ext cx="4206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fr-FR" sz="1100" b="1" i="0" dirty="0">
                <a:solidFill>
                  <a:srgbClr val="FFFFFF"/>
                </a:solidFill>
                <a:latin typeface="Calibri"/>
              </a:rPr>
              <a:t>3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2688" y="4453128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3C4A6B"/>
                </a:solidFill>
                <a:latin typeface="Calibri"/>
              </a:rPr>
              <a:t>Conclusion &amp; perspectives</a:t>
            </a:r>
            <a:endParaRPr sz="1200" b="0" i="0" dirty="0">
              <a:solidFill>
                <a:srgbClr val="3C4A6B"/>
              </a:solidFill>
              <a:latin typeface="Calibri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E8709C-5281-EF99-CFA6-8FCC0154E082}"/>
              </a:ext>
            </a:extLst>
          </p:cNvPr>
          <p:cNvSpPr/>
          <p:nvPr/>
        </p:nvSpPr>
        <p:spPr>
          <a:xfrm>
            <a:off x="6492240" y="3931920"/>
            <a:ext cx="539496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9BEDA5-41D2-0D9C-4391-85A8900FAD9B}"/>
              </a:ext>
            </a:extLst>
          </p:cNvPr>
          <p:cNvSpPr/>
          <p:nvPr/>
        </p:nvSpPr>
        <p:spPr>
          <a:xfrm>
            <a:off x="6492240" y="3931920"/>
            <a:ext cx="420624" cy="42062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4B150A-624F-F9BD-F2D9-A6BAF22DD85D}"/>
              </a:ext>
            </a:extLst>
          </p:cNvPr>
          <p:cNvSpPr txBox="1"/>
          <p:nvPr/>
        </p:nvSpPr>
        <p:spPr>
          <a:xfrm>
            <a:off x="6492240" y="393192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FDD0F1-F980-4DDB-7326-E70F71085AAC}"/>
              </a:ext>
            </a:extLst>
          </p:cNvPr>
          <p:cNvSpPr txBox="1"/>
          <p:nvPr/>
        </p:nvSpPr>
        <p:spPr>
          <a:xfrm>
            <a:off x="6967728" y="3968496"/>
            <a:ext cx="4864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 err="1">
                <a:solidFill>
                  <a:srgbClr val="3C4A6B"/>
                </a:solidFill>
                <a:latin typeface="Calibri"/>
              </a:rPr>
              <a:t>Démonstration</a:t>
            </a:r>
            <a:endParaRPr sz="1200" b="0" i="0" dirty="0">
              <a:solidFill>
                <a:srgbClr val="3C4A6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Pourquoi un assistant d'étude intelligent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latin typeface="Calibri"/>
              </a:rPr>
              <a:t>Contexte</a:t>
            </a:r>
            <a:endParaRPr sz="1400" b="1" i="0" dirty="0"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18653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•  La charge académique des étudiants en ingénierie est croissante.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359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•  Les outils traditionnels (prise de notes, mémorisation passive) montrent leurs limites face au volume de contenu.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529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•  L'essor des modèles de langage (LLM) offre une opportunité réelle de personnaliser l'apprentissage.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467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•  Les smartphones sont omniprésents : un outil mobile et connecté s'impose naturellement.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99616"/>
            <a:ext cx="5623560" cy="107899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499616"/>
            <a:ext cx="50800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1554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Dispersion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8470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Trop de contenu à traiter, difficulté à isoler l'essentiel.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70048"/>
            <a:ext cx="5623560" cy="107899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2670048"/>
            <a:ext cx="50800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2724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Passivité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01752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Relire des cours ne garantit pas la mémorisation active.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623560" cy="107899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0800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3895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Manque d'évaluation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418795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Peu d'outils permettent un auto-test rapide et ciblé.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10912"/>
            <a:ext cx="5623560" cy="107899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5010912"/>
            <a:ext cx="50800" cy="10789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5936" y="50657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Rupture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535838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Aucun fil conducteur entre le contenu brut et les révisions.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Objectifs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Objectifs du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Ce que l'application doit permettre à l'étudiant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17904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517904"/>
            <a:ext cx="562356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554480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Générer du contenu d'étude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1883664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Transformer un texte brut ou une image de cours en résumé, quiz ou flashcards en quelques secondes.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517904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517904"/>
            <a:ext cx="5623560" cy="3108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Évaluation 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883664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Permettre à l'étudiant de se tester grâce à des quiz générés automatiquement et notés.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562356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2871216"/>
            <a:ext cx="5404104" cy="256032"/>
          </a:xfrm>
          <a:prstGeom prst="rect">
            <a:avLst/>
          </a:prstGeom>
          <a:solidFill>
            <a:srgbClr val="1A73E8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Mémorisation espacée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00400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Proposer des flashcards recto-verso pour faciliter la révision à long terme.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2834640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834640"/>
            <a:ext cx="5623560" cy="3108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871216"/>
            <a:ext cx="5404104" cy="256032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/>
              </a:rPr>
              <a:t>Suivi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personnalisé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60" y="3200400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Conserver l'historique des sessions, identifier les points faibles et marquer du contenu pour révision ultérieure.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51376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4151376"/>
            <a:ext cx="562356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4187952"/>
            <a:ext cx="5404104" cy="256032"/>
          </a:xfrm>
          <a:prstGeom prst="rect">
            <a:avLst/>
          </a:prstGeom>
          <a:solidFill>
            <a:srgbClr val="1A73E8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Accessibilité mobile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517136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Offrir une expérience fluide sur Android, avec saisie textuelle et capture d'image (OCR).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151376"/>
            <a:ext cx="5623560" cy="1225296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99632" y="4151376"/>
            <a:ext cx="5623560" cy="3108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187952"/>
            <a:ext cx="5404104" cy="256032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Sécurité des données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17136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  <a:latin typeface="Calibri"/>
              </a:rPr>
              <a:t>Authentifier chaque utilisateur (JWT) et isoler ses données dans une base persistante.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Architecture générale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Architecture générale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Modèle client-serveur à trois niveaux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3291840" cy="36576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554480"/>
            <a:ext cx="3291840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5910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Couche Présentation (Android)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2011680"/>
            <a:ext cx="303580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Application native Android (Java)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Material Design Components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Navigation par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BottomNavigationView</a:t>
            </a:r>
            <a:endParaRPr sz="1100" dirty="0">
              <a:solidFill>
                <a:srgbClr val="1A233A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Retrofit 2 +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OkHttp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pour les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appels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API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ML Kit – OCR on-device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SharedPreferences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(session,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thème</a:t>
            </a:r>
            <a:r>
              <a:rPr sz="1100" dirty="0">
                <a:solidFill>
                  <a:srgbClr val="1A233A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révisions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locales)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554480"/>
            <a:ext cx="3291840" cy="36576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1554480"/>
            <a:ext cx="329184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15910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Couche Logique (Spring Boot)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011680"/>
            <a:ext cx="3035808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API REST (Spring MVC)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Authentification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stateless JWT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Filtre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de limitation de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débit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(rate-limiting)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Service de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génération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IA (Gemini)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Validation &amp; transformation des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réponses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Gestion de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l'historique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des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554480"/>
            <a:ext cx="3291840" cy="36576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95360" y="1554480"/>
            <a:ext cx="3291840" cy="384048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15910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Couche Données &amp;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2011680"/>
            <a:ext cx="303580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PostgreSQL via Spring Data JPA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Entités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: User,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StudySession</a:t>
            </a:r>
            <a:r>
              <a:rPr sz="1100" dirty="0">
                <a:solidFill>
                  <a:srgbClr val="1A233A"/>
                </a:solidFill>
                <a:latin typeface="Calibri"/>
              </a:rPr>
              <a:t>, Question, Flashcard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Google Gemini (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gemini</a:t>
            </a:r>
            <a:r>
              <a:rPr sz="1100" dirty="0">
                <a:solidFill>
                  <a:srgbClr val="1A233A"/>
                </a:solidFill>
                <a:latin typeface="Calibri"/>
              </a:rPr>
              <a:t>-flash-latest)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Génération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structurée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JSON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Clé API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sécurisée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par variable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d'environnement</a:t>
            </a:r>
            <a:endParaRPr sz="1100" dirty="0">
              <a:solidFill>
                <a:srgbClr val="1A233A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dirty="0">
                <a:solidFill>
                  <a:srgbClr val="1A233A"/>
                </a:solidFill>
                <a:latin typeface="Calibri"/>
              </a:rPr>
              <a:t>•  Docker Compose pour </a:t>
            </a:r>
            <a:r>
              <a:rPr sz="1100" dirty="0" err="1">
                <a:solidFill>
                  <a:srgbClr val="1A233A"/>
                </a:solidFill>
                <a:latin typeface="Calibri"/>
              </a:rPr>
              <a:t>déploiement</a:t>
            </a:r>
            <a:r>
              <a:rPr sz="1100" dirty="0">
                <a:solidFill>
                  <a:srgbClr val="1A233A"/>
                </a:solidFill>
                <a:latin typeface="Calibri"/>
              </a:rPr>
              <a:t>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94176" y="3345180"/>
            <a:ext cx="612648" cy="76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0248" y="3236976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236976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03580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HTTP / REST + JWT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54695" y="3345180"/>
            <a:ext cx="612648" cy="76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7" y="3236976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236976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303580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JDBC / JPA</a:t>
            </a:r>
          </a:p>
        </p:txBody>
      </p:sp>
      <p:pic>
        <p:nvPicPr>
          <p:cNvPr id="35" name="Picture 34" descr="Spring Logo PNG Transparent &amp; SVG ...">
            <a:extLst>
              <a:ext uri="{FF2B5EF4-FFF2-40B4-BE49-F238E27FC236}">
                <a16:creationId xmlns:a16="http://schemas.microsoft.com/office/drawing/2014/main" id="{7ABD242A-9B80-02FC-C514-7F61DD267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885" y="3811683"/>
            <a:ext cx="921357" cy="925470"/>
          </a:xfrm>
          <a:prstGeom prst="rect">
            <a:avLst/>
          </a:prstGeom>
        </p:spPr>
      </p:pic>
      <p:pic>
        <p:nvPicPr>
          <p:cNvPr id="36" name="Picture 35" descr="Android Logo Vector Art, Icons, and ...">
            <a:extLst>
              <a:ext uri="{FF2B5EF4-FFF2-40B4-BE49-F238E27FC236}">
                <a16:creationId xmlns:a16="http://schemas.microsoft.com/office/drawing/2014/main" id="{566C8A1C-49FC-67B7-BB3E-52A9B9053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0" y="3748279"/>
            <a:ext cx="1059180" cy="1059180"/>
          </a:xfrm>
          <a:prstGeom prst="rect">
            <a:avLst/>
          </a:prstGeom>
        </p:spPr>
      </p:pic>
      <p:pic>
        <p:nvPicPr>
          <p:cNvPr id="37" name="Picture 36" descr="File:Postgresql elephant.svg ...">
            <a:extLst>
              <a:ext uri="{FF2B5EF4-FFF2-40B4-BE49-F238E27FC236}">
                <a16:creationId xmlns:a16="http://schemas.microsoft.com/office/drawing/2014/main" id="{26760B54-B626-0522-B0AE-67518AFAB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070" y="3843147"/>
            <a:ext cx="1043280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Technologies utilisées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Technologies utilisées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Pile technique complète du projet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08760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508760"/>
            <a:ext cx="9144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1563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3E8"/>
                </a:solidFill>
                <a:latin typeface="Calibri"/>
              </a:rP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Android (Java)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029967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Java 11+, API 26+, Material 3, Fragments,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BottomNavigation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41064" y="1508760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41064" y="1508760"/>
            <a:ext cx="9144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05656" y="1563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RÉSEAU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6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Retrofit 2 / OkHttp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5656" y="2029967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Client HTTP typé, intercepteur JWT, logging configurable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1508760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07808" y="1508760"/>
            <a:ext cx="914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1563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688"/>
                </a:solidFill>
                <a:latin typeface="Calibri"/>
              </a:rPr>
              <a:t>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7556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ML Kit – On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029967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Reconnaissance texte Latin sans appel réseau, intégré GenerateFragment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60904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2660904"/>
            <a:ext cx="91440" cy="1005840"/>
          </a:xfrm>
          <a:prstGeom prst="rect">
            <a:avLst/>
          </a:prstGeom>
          <a:solidFill>
            <a:srgbClr val="6DA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27157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A544"/>
                </a:solidFill>
                <a:latin typeface="Calibri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29077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Spring Boot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3182111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Spring MVC REST, Spring Security, Spring Data JPA, validation Bean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41064" y="2660904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41064" y="2660904"/>
            <a:ext cx="91440" cy="10058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05656" y="27157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935"/>
                </a:solidFill>
                <a:latin typeface="Calibri"/>
              </a:rPr>
              <a:t>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29077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Google Gemini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5656" y="3182111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Modèle gemini-flash-latest, prompts JSON stricts, validation serveur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7808" y="2660904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07808" y="2660904"/>
            <a:ext cx="91440" cy="1005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0" y="27157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F00"/>
                </a:solidFill>
                <a:latin typeface="Calibri"/>
              </a:rPr>
              <a:t>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29077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JJWT (HS256)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182111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Tokens signés clé Base64 ≥32 octets, expiration configurable, BCrypt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13048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" y="3813048"/>
            <a:ext cx="91440" cy="1005840"/>
          </a:xfrm>
          <a:prstGeom prst="rect">
            <a:avLst/>
          </a:prstGeom>
          <a:solidFill>
            <a:srgbClr val="33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38679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36B91"/>
                </a:solidFill>
                <a:latin typeface="Calibri"/>
              </a:rPr>
              <a:t>BASE DONNÉES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40599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PostgreSQL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4334255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ORM JPA/Hibernate, schéma auto-géré (ddl-auto=update), UUID PK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41064" y="3813048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41064" y="3813048"/>
            <a:ext cx="91440" cy="1005840"/>
          </a:xfrm>
          <a:prstGeom prst="rect">
            <a:avLst/>
          </a:prstGeom>
          <a:solidFill>
            <a:srgbClr val="009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05656" y="38679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1BD"/>
                </a:solidFill>
                <a:latin typeface="Calibri"/>
              </a:rPr>
              <a:t>DÉPLOIEMENT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5656" y="40599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Docker Compose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5656" y="4334255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Conteneurs PostgreSQL + backend, variables d'environnement dans .env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3813048"/>
            <a:ext cx="3520440" cy="10058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607808" y="3813048"/>
            <a:ext cx="91440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0" y="38679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SÉRIALISATION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05993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C4A6B"/>
                </a:solidFill>
                <a:latin typeface="Calibri"/>
              </a:rPr>
              <a:t>Gson (Android)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334255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Désérialisation des réponses API, stockage JSON local ReviewLaterStore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Authentification &amp;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Authentification &amp; Sécurité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Gestion des identités et protection des ressources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Flux </a:t>
            </a:r>
            <a:r>
              <a:rPr sz="1400" b="1" i="0" dirty="0" err="1">
                <a:latin typeface="Calibri"/>
              </a:rPr>
              <a:t>d'authentification</a:t>
            </a:r>
            <a:endParaRPr sz="1400" b="1" i="0" dirty="0"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032" y="1847088"/>
            <a:ext cx="347472" cy="7680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1993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8470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A6B"/>
                </a:solidFill>
                <a:latin typeface="Calibri"/>
              </a:rPr>
              <a:t>Inscription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1031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L'utilisateur soumet nom, e-mail et mot de passe.
Le backend normalise l'e-mail et hash avec BCrypt.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715768"/>
            <a:ext cx="347472" cy="7680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6032" y="28620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7157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A6B"/>
                </a:solidFill>
                <a:latin typeface="Calibri"/>
              </a:rPr>
              <a:t>Connexion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9718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Vérification des identifiants ; émission d'un JWT signé (HS256)
avec l'e-mail comme subject.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584448"/>
            <a:ext cx="347472" cy="7680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" y="3730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844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A6B"/>
                </a:solidFill>
                <a:latin typeface="Calibri"/>
              </a:rPr>
              <a:t>Requêtes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40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64748B"/>
                </a:solidFill>
                <a:latin typeface="Calibri"/>
              </a:rPr>
              <a:t>L'intercepteur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Android (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AuthInterceptor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)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ajoute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automatiquement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
le header Authorization: Bearer &lt;token&gt;.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453128"/>
            <a:ext cx="347472" cy="7680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" y="45994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4531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A6B"/>
                </a:solidFill>
                <a:latin typeface="Calibri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7091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64748B"/>
                </a:solidFill>
                <a:latin typeface="Calibri"/>
              </a:rPr>
              <a:t>JwtAuthenticationFilter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valide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la signature et charge
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l'utilisateur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depuis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la base de données.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5321808"/>
            <a:ext cx="347472" cy="7680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" y="5468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3218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A6B"/>
                </a:solidFill>
                <a:latin typeface="Calibri"/>
              </a:rPr>
              <a:t>Profil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5778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PATCH /api/auth/profile : modification nom, e-mail ou mot de
passe avec réémission du token si besoin.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499616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latin typeface="Calibri"/>
              </a:rPr>
              <a:t>Mesures</a:t>
            </a:r>
            <a:r>
              <a:rPr sz="1400" b="1" i="0" dirty="0">
                <a:latin typeface="Calibri"/>
              </a:rPr>
              <a:t> de sécurité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184708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91072" y="184708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189280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BCrypt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1214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Hash adaptatif du mot de passe, résistant aux attaques par force brute.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257860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91072" y="257860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55664" y="262432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JWT HS256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285292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Clé secrète Base64 ≥32 octets, vérifiée au démarrage.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331012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91072" y="331012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55664" y="335584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Routes protégées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58444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Tout le contenu hormis /api/auth/login et /register requiert un token valide.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404164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91072" y="404164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55664" y="408736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Rate Limiting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5664" y="431596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GenerateRateLimitFilter : 10 requêtes / 60 s par utilisateur.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91072" y="477316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91072" y="477316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55664" y="481888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HTTPS prêt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504748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Configuration SSL configurable, cleartext désactivable en production.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91072" y="5504688"/>
            <a:ext cx="5577840" cy="6583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91072" y="5504688"/>
            <a:ext cx="50800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55664" y="555040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Variables env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5664" y="5779008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Clé Gemini, secret JWT et URL BDD passés par .env, jamais versionnés.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Module de génération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Module de génération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Du contenu brut vers du matériel d'étude structuré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627632"/>
            <a:ext cx="178308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1664208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Texte saisi
ou image capturée / galerie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2264" y="2194560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9424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49424" y="1627632"/>
            <a:ext cx="178308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22576" y="1664208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864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ML Kit extrait le texte
(traitement local, aucun envoi réseau)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2194560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78808" y="1627632"/>
            <a:ext cx="178308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51960" y="1664208"/>
            <a:ext cx="1636776" cy="292608"/>
          </a:xfrm>
          <a:prstGeom prst="rect">
            <a:avLst/>
          </a:prstGeom>
          <a:solidFill>
            <a:srgbClr val="1A73E8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Paramètres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Type, sujet optionnel,
profondeur, nb de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2194560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08192" y="1627632"/>
            <a:ext cx="178308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1664208"/>
            <a:ext cx="1636776" cy="292608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POST /api/study/generate
Validation 20-20 000 car.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0416" y="2194560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7576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7576" y="1627632"/>
            <a:ext cx="178308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0728" y="1664208"/>
            <a:ext cx="1636776" cy="292608"/>
          </a:xfrm>
          <a:prstGeom prst="rect">
            <a:avLst/>
          </a:prstGeom>
          <a:solidFill>
            <a:srgbClr val="1A73E8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Génération JSON structuré
par Google Gemini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194560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1627632"/>
            <a:ext cx="1783080" cy="138988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966960" y="1627632"/>
            <a:ext cx="178308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40112" y="1664208"/>
            <a:ext cx="1636776" cy="292608"/>
          </a:xfrm>
          <a:prstGeom prst="rect">
            <a:avLst/>
          </a:prstGeom>
          <a:solidFill>
            <a:srgbClr val="009688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Résultat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029968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Session sauvegardée
Affichage dans ResultActivity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00400"/>
            <a:ext cx="5303520" cy="26517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3200400"/>
            <a:ext cx="5303520" cy="32918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2336" y="3227832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OCR on-device – ML Kit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3602736"/>
            <a:ext cx="504748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Aucune donnée image envoyée au serveur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Google ML Kit Text Recognition (Latin)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Caméra (FileProvider) ou galerie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Le texte extrait remplace automatiquement la zone de saisie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Un aperçu de l'image et un statut d'analyse sont affichés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200400"/>
            <a:ext cx="5943600" cy="26517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0" y="3200400"/>
            <a:ext cx="5943600" cy="32918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71616" y="3227832"/>
            <a:ext cx="5687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Règles de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71616" y="3602736"/>
            <a:ext cx="56875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Minimum 20 caractères, maximum 20 000 caractères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Sujet optionnel (aide à la contextualisation du prompt)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Nombre de questions quiz : 3 à 12 (contrôlé par le seekbar)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Profondeur résumé : ESSENTIALS, BALANCED ou THOROUGH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Code HTTP 429 retourné si la limite de débit est atteinte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FFFFFF"/>
                </a:solidFill>
                <a:latin typeface="Calibri"/>
              </a:rPr>
              <a:t>Intégration</a:t>
            </a:r>
            <a:r>
              <a:rPr sz="9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900" b="0" i="0" dirty="0" err="1">
                <a:solidFill>
                  <a:srgbClr val="FFFFFF"/>
                </a:solidFill>
                <a:latin typeface="Calibri"/>
              </a:rPr>
              <a:t>l'IA</a:t>
            </a:r>
            <a:r>
              <a:rPr sz="900" b="0" i="0" dirty="0">
                <a:solidFill>
                  <a:srgbClr val="FFFFFF"/>
                </a:solidFill>
                <a:latin typeface="Calibri"/>
              </a:rPr>
              <a:t> – Google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Intégration de l'IA – Google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Génération structurée avec validation côté serveur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  <a:latin typeface="Calibri"/>
              </a:rPr>
              <a:t>Le backend utilise le modèle "gemini-flash-latest" via l'API REST officielle de Google. Les prompts exigent une réponse en JSON strict. Le serveur valide et nettoie la sortie avant persistance.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84831"/>
            <a:ext cx="3794760" cy="43159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084831"/>
            <a:ext cx="379476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103120"/>
            <a:ext cx="35753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Résumé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487168"/>
            <a:ext cx="3575304" cy="197510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542032"/>
            <a:ext cx="34290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4A6B"/>
                </a:solidFill>
                <a:latin typeface="Courier New"/>
              </a:rPr>
              <a:t>{"summary": "..."}
Profondeurs :
  ESSENTIALS – essentiel
  BALANCED   – équilibré
  THOROUGH   – détaillé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17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JSON avec clé "summary"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2803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Texte nettoyé des blocs markdown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13892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Sauvegardé dans summaryContent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084831"/>
            <a:ext cx="3794760" cy="43159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60" y="2084831"/>
            <a:ext cx="3794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61688" y="2103120"/>
            <a:ext cx="35753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Quiz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487168"/>
            <a:ext cx="3575304" cy="197510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542032"/>
            <a:ext cx="34290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4A6B"/>
                </a:solidFill>
                <a:latin typeface="Courier New"/>
              </a:rPr>
              <a:t>{"questions": [{
  "questionText": "...",
  "choices": [...4...],
  "correctIndex": 1,
  "explanation": "..."
}]}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517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Nombre de questions : 3 à 12 (défaut 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82803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4 choix par question, unicité vérifiée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513892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correctIndex dérivé de correctAnswer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084831"/>
            <a:ext cx="3794760" cy="4315968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2084831"/>
            <a:ext cx="3794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9328" y="2103120"/>
            <a:ext cx="35753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Flashcards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9328" y="2487168"/>
            <a:ext cx="3575304" cy="197510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2542032"/>
            <a:ext cx="342900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4A6B"/>
                </a:solidFill>
                <a:latin typeface="Courier New"/>
              </a:rPr>
              <a:t>{"flashcards": [{
  "front": "...",
  "back": "..."
}]}
Exactement 8 cartes.
Serveur rejette si ≠ 8.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517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Exactement 8 cartes imposées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482803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Rejet si comptage incorrect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13892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9688"/>
                </a:solidFill>
                <a:latin typeface="Calibri"/>
              </a:rPr>
              <a:t>✓  Stockées avec orderIndex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Quiz interactif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Quiz interactif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Évaluation active et suivi des performances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latin typeface="Calibri"/>
              </a:rPr>
              <a:t>Fonctionnement</a:t>
            </a:r>
            <a:r>
              <a:rPr sz="1400" b="1" i="0" dirty="0">
                <a:latin typeface="Calibri"/>
              </a:rPr>
              <a:t> du quiz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865376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191109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1214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Questions affichées une par une avec barre de progression.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487168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5328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Réponses dynamiques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4 boutons MaterialButton générés dynamiquement pour chaque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108960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1546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Feedback immédiat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3649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Couleur verte pour la bonne réponse, rouge pour la mauvaise sélectionnée.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730752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7647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Explication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9867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Après chaque réponse, une explication textuelle s'affiche si disponible.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352544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439826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Score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6085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Score calculé et affiché en fin de quiz avec dialogue de résultats.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4974336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50200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Suivi des échecs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5230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Score ≤ 50 % : session ajoutée automatiquement à la liste de révision locale.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596128"/>
            <a:ext cx="5394960" cy="54864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56418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  <a:latin typeface="Calibri"/>
              </a:rPr>
              <a:t>Reprise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5852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L'étudiant peut régénérer résumé ou flashcards à partir du même texte source.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499616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Aperçu du flux de </a:t>
            </a:r>
            <a:r>
              <a:rPr sz="1400" b="1" i="0" dirty="0" err="1">
                <a:latin typeface="Calibri"/>
              </a:rPr>
              <a:t>réponse</a:t>
            </a:r>
            <a:endParaRPr sz="1400" b="1" i="0" dirty="0"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00800" y="1865376"/>
            <a:ext cx="5394960" cy="4572000"/>
          </a:xfrm>
          <a:prstGeom prst="rect">
            <a:avLst/>
          </a:prstGeom>
          <a:solidFill>
            <a:srgbClr val="F2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65392" y="2029968"/>
            <a:ext cx="5065776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65392" y="2029968"/>
            <a:ext cx="2560320" cy="16459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65392" y="2249424"/>
            <a:ext cx="5065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Question 3 / 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5392" y="2542032"/>
            <a:ext cx="506577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6832" y="2596896"/>
            <a:ext cx="48828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C4A6B"/>
                </a:solidFill>
                <a:latin typeface="Calibri"/>
              </a:rPr>
              <a:t>Quelle est la complexité temporelle
d'une recherche binaire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3456432"/>
            <a:ext cx="506577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65392" y="3456432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O(n)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65392" y="3986784"/>
            <a:ext cx="5065776" cy="438912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3986784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7D32"/>
                </a:solidFill>
                <a:latin typeface="Calibri"/>
              </a:rPr>
              <a:t>O(log 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5392" y="4517136"/>
            <a:ext cx="506577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4517136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Calibri"/>
              </a:rPr>
              <a:t>O(n²)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5392" y="5047488"/>
            <a:ext cx="5065776" cy="438912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65392" y="5047488"/>
            <a:ext cx="5065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62828"/>
                </a:solidFill>
                <a:latin typeface="Calibri"/>
              </a:rPr>
              <a:t>O(1)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5650992"/>
            <a:ext cx="5065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3C4A6B"/>
                </a:solidFill>
                <a:latin typeface="Calibri"/>
              </a:rPr>
              <a:t>Explication : la recherche binaire divise l'espace
de recherche en deux à chaque étape.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Résumés, Flashcards &amp; Historique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Résumés, Flashcards &amp; Historique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Exploitation du contenu généré et mémoire de l'application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99616"/>
            <a:ext cx="3703320" cy="482803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1499616"/>
            <a:ext cx="3703320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545336"/>
            <a:ext cx="34838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Résumé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1993392"/>
            <a:ext cx="3410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Texte complet affiché dans SummaryFragment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Bouton Partager (Intent ACTION_SEND)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Bouton 'Réviser plus tard' : enregistre la session dans ReviewLaterStore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Trois niveaux de profondeur : Essentials, Balanced, Thorough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Génération de suivi : enchaîner quiz depuis le même texte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499616"/>
            <a:ext cx="3703320" cy="482803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97096" y="1499616"/>
            <a:ext cx="3703320" cy="384048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06824" y="1545336"/>
            <a:ext cx="34838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Flashcards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993392"/>
            <a:ext cx="3410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Affichage une carte à la fois dans FlashcardsFragment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Animation de retournement (face / dos) via ObjectAnimator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Navigation Précédent / Suivant avec compteur de progression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Exactement 8 cartes générées et persistées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Chaque carte stockée avec orderIndex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1499616"/>
            <a:ext cx="3703320" cy="4828032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19872" y="1499616"/>
            <a:ext cx="370332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1545336"/>
            <a:ext cx="34838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Historique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1993392"/>
            <a:ext cx="3410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Liste complète des sessions ordonnées par date décroissante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Pull-to-refresh sur GET /api/history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Tap : chargement complet puis ouverture de ResultActivity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Suppression par balayage latéral avec confirmation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150">
                <a:solidFill>
                  <a:srgbClr val="1A233A"/>
                </a:solidFill>
                <a:latin typeface="Calibri"/>
              </a:rPr>
              <a:t>•  La session conserve sourceText pour permettre la régénération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Interface utilisateur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Interface 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Material Design 3, navigation fluide et expérience cohérente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Structure de navigation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1920240"/>
            <a:ext cx="1828800" cy="4937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1920240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MainActivity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834640"/>
            <a:ext cx="914400" cy="438912"/>
          </a:xfrm>
          <a:prstGeom prst="rect">
            <a:avLst/>
          </a:prstGeom>
          <a:solidFill>
            <a:srgbClr val="E8F4FB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2834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47A1"/>
                </a:solidFill>
                <a:latin typeface="Calibri"/>
              </a:rPr>
              <a:t>Accueil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2834640"/>
            <a:ext cx="914400" cy="438912"/>
          </a:xfrm>
          <a:prstGeom prst="rect">
            <a:avLst/>
          </a:prstGeom>
          <a:solidFill>
            <a:srgbClr val="E8F4FB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2834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47A1"/>
                </a:solidFill>
                <a:latin typeface="Calibri"/>
              </a:rPr>
              <a:t>Générer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834640"/>
            <a:ext cx="914400" cy="438912"/>
          </a:xfrm>
          <a:prstGeom prst="rect">
            <a:avLst/>
          </a:prstGeom>
          <a:solidFill>
            <a:srgbClr val="E8F4FB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2834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47A1"/>
                </a:solidFill>
                <a:latin typeface="Calibri"/>
              </a:rPr>
              <a:t>Historique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834640"/>
            <a:ext cx="914400" cy="438912"/>
          </a:xfrm>
          <a:prstGeom prst="rect">
            <a:avLst/>
          </a:prstGeom>
          <a:solidFill>
            <a:srgbClr val="E8F4FB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37560" y="2834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47A1"/>
                </a:solidFill>
                <a:latin typeface="Calibri"/>
              </a:rPr>
              <a:t>Révision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834640"/>
            <a:ext cx="914400" cy="438912"/>
          </a:xfrm>
          <a:prstGeom prst="rect">
            <a:avLst/>
          </a:prstGeom>
          <a:solidFill>
            <a:srgbClr val="E8F4FB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2834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47A1"/>
                </a:solidFill>
                <a:latin typeface="Calibri"/>
              </a:rPr>
              <a:t>Profil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156210" y="4330350"/>
            <a:ext cx="57073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 err="1">
                <a:solidFill>
                  <a:srgbClr val="64748B"/>
                </a:solidFill>
                <a:latin typeface="Calibri"/>
              </a:rPr>
              <a:t>BottomNavigationView</a:t>
            </a:r>
            <a:endParaRPr sz="10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463040" y="3895344"/>
            <a:ext cx="23774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63040" y="389534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ResultActivity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3472" y="3273552"/>
            <a:ext cx="25400" cy="6217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08760" y="45537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64748B"/>
                </a:solidFill>
                <a:latin typeface="Calibri"/>
              </a:rPr>
              <a:t>Résumé / Quiz / Flashcards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499616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Choix de conception UI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865376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1865376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9904" y="191109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Material Design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213969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Composants Material (CardView, ChipGroup, TextInputLayout, ProgressIndicator) pour une cohérence visuelle.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578608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43600" y="2578608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9904" y="262432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Thème adaptatif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285292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64748B"/>
                </a:solidFill>
                <a:latin typeface="Calibri"/>
              </a:rPr>
              <a:t>L'utilisateur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choisit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System / Clair /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Sombre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; la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préférence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est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persistée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dans </a:t>
            </a:r>
            <a:r>
              <a:rPr sz="1050" b="0" i="0" dirty="0" err="1">
                <a:solidFill>
                  <a:srgbClr val="64748B"/>
                </a:solidFill>
                <a:latin typeface="Calibri"/>
              </a:rPr>
              <a:t>SharedPreferences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291840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0" y="3291840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89904" y="3337560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Navigation fluide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9904" y="35661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Single Activity avec fragments ; back-stack géré ; transitions sans rechargement de données.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005072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43600" y="4005072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89904" y="4050792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Chips de sélection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427939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ChipGroup singleSelection=true pour le type et la profondeur, garantissant une saisie sans erreur.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4718304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943600" y="4718304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89904" y="4764024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Feedback en temps réel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9904" y="499262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Compteur de caractères dynamique, messages d'erreur inline, ProgressIndicator indéterminé.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5431536"/>
            <a:ext cx="594360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943600" y="5431536"/>
            <a:ext cx="5080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89904" y="547725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Accessibilité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9904" y="570585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contentDescription sur les éléments visuels ; ratios de contraste conformes Material Design.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7EB59822-F66B-EB50-4E0F-123BDA128D73}"/>
              </a:ext>
            </a:extLst>
          </p:cNvPr>
          <p:cNvCxnSpPr>
            <a:stCxn id="18" idx="0"/>
            <a:endCxn id="17" idx="2"/>
          </p:cNvCxnSpPr>
          <p:nvPr/>
        </p:nvCxnSpPr>
        <p:spPr>
          <a:xfrm rot="5400000" flipH="1" flipV="1">
            <a:off x="1435608" y="1618488"/>
            <a:ext cx="420624" cy="20116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264D648-67E4-9D31-91D9-725BDA52601A}"/>
              </a:ext>
            </a:extLst>
          </p:cNvPr>
          <p:cNvCxnSpPr>
            <a:stCxn id="21" idx="0"/>
            <a:endCxn id="17" idx="2"/>
          </p:cNvCxnSpPr>
          <p:nvPr/>
        </p:nvCxnSpPr>
        <p:spPr>
          <a:xfrm rot="5400000" flipH="1" flipV="1">
            <a:off x="1961388" y="2144268"/>
            <a:ext cx="420624" cy="96012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41FC7210-899D-5998-E7DE-90725F1C9EAC}"/>
              </a:ext>
            </a:extLst>
          </p:cNvPr>
          <p:cNvCxnSpPr>
            <a:stCxn id="24" idx="0"/>
            <a:endCxn id="17" idx="2"/>
          </p:cNvCxnSpPr>
          <p:nvPr/>
        </p:nvCxnSpPr>
        <p:spPr>
          <a:xfrm rot="16200000" flipV="1">
            <a:off x="2487168" y="2578608"/>
            <a:ext cx="420624" cy="9144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A7A3146-B1E8-0C63-6044-B92AB5F56F62}"/>
              </a:ext>
            </a:extLst>
          </p:cNvPr>
          <p:cNvCxnSpPr>
            <a:stCxn id="28" idx="0"/>
            <a:endCxn id="16" idx="2"/>
          </p:cNvCxnSpPr>
          <p:nvPr/>
        </p:nvCxnSpPr>
        <p:spPr>
          <a:xfrm rot="16200000" flipV="1">
            <a:off x="3012948" y="2052828"/>
            <a:ext cx="420624" cy="1143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AC1A4E8F-2F65-5820-8DE7-07BA2D8FA195}"/>
              </a:ext>
            </a:extLst>
          </p:cNvPr>
          <p:cNvCxnSpPr>
            <a:stCxn id="30" idx="0"/>
            <a:endCxn id="16" idx="2"/>
          </p:cNvCxnSpPr>
          <p:nvPr/>
        </p:nvCxnSpPr>
        <p:spPr>
          <a:xfrm rot="16200000" flipV="1">
            <a:off x="3538728" y="1527048"/>
            <a:ext cx="420624" cy="219456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Base de données &amp; API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Base de données &amp; API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Modèle de données PostgreSQL et contrat d'interface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latin typeface="Calibri"/>
              </a:rPr>
              <a:t>Schéma</a:t>
            </a:r>
            <a:r>
              <a:rPr sz="1400" b="1" i="0" dirty="0">
                <a:latin typeface="Calibri"/>
              </a:rPr>
              <a:t> de données (</a:t>
            </a:r>
            <a:r>
              <a:rPr sz="1400" b="1" i="0" dirty="0" err="1">
                <a:latin typeface="Calibri"/>
              </a:rPr>
              <a:t>simplifié</a:t>
            </a:r>
            <a:r>
              <a:rPr sz="1400" b="1" i="0" dirty="0">
                <a:latin typeface="Calibri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65376"/>
            <a:ext cx="2432304" cy="21945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1865376"/>
            <a:ext cx="2432304" cy="31089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92808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2311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id (UUID)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52374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username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81635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10896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password (BCrypt)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01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createdAt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1216" y="1865376"/>
            <a:ext cx="2432304" cy="21945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71216" y="1865376"/>
            <a:ext cx="2432304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2656" y="1892808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StudySession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2311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id (UUID)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0944" y="252374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type (SUMMARY/QUIZ/FLASHCARDS)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281635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subject (opt.)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0944" y="310896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summaryContent (TEXT)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401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sourceText (TEXT)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369417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createdAt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51376"/>
            <a:ext cx="2432304" cy="21945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151376"/>
            <a:ext cx="2432304" cy="3108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178808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5171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80974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questionText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10235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choices (JSON)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39496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correctAnswer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687568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explanation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598017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orderIndex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71216" y="4151376"/>
            <a:ext cx="2432304" cy="219456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71216" y="4151376"/>
            <a:ext cx="2432304" cy="310896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62656" y="4178808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Flashcard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4517136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80944" y="4809744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front (TEXT)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944" y="510235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back (TEXT)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0944" y="539496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  <a:latin typeface="Calibri"/>
              </a:rPr>
              <a:t>orderIndex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30135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4748B"/>
                </a:solidFill>
                <a:latin typeface="Calibri"/>
              </a:rPr>
              <a:t>User 1 ➡ N </a:t>
            </a:r>
            <a:r>
              <a:rPr sz="1000" b="0" i="1" dirty="0" err="1">
                <a:solidFill>
                  <a:srgbClr val="64748B"/>
                </a:solidFill>
                <a:latin typeface="Calibri"/>
              </a:rPr>
              <a:t>StudySession</a:t>
            </a:r>
            <a:r>
              <a:rPr sz="1000" b="0" i="1" dirty="0">
                <a:solidFill>
                  <a:srgbClr val="64748B"/>
                </a:solidFill>
                <a:latin typeface="Calibri"/>
              </a:rPr>
              <a:t>   |   </a:t>
            </a:r>
            <a:r>
              <a:rPr sz="1000" b="0" i="1" dirty="0" err="1">
                <a:solidFill>
                  <a:srgbClr val="64748B"/>
                </a:solidFill>
                <a:latin typeface="Calibri"/>
              </a:rPr>
              <a:t>StudySession</a:t>
            </a:r>
            <a:r>
              <a:rPr sz="1000" b="0" i="1" dirty="0">
                <a:solidFill>
                  <a:srgbClr val="64748B"/>
                </a:solidFill>
                <a:latin typeface="Calibri"/>
              </a:rPr>
              <a:t> 1 ➡ N Question   |   </a:t>
            </a:r>
            <a:r>
              <a:rPr sz="1000" b="0" i="1" dirty="0" err="1">
                <a:solidFill>
                  <a:srgbClr val="64748B"/>
                </a:solidFill>
                <a:latin typeface="Calibri"/>
              </a:rPr>
              <a:t>StudySession</a:t>
            </a:r>
            <a:r>
              <a:rPr sz="1000" b="0" i="1" dirty="0">
                <a:solidFill>
                  <a:srgbClr val="64748B"/>
                </a:solidFill>
                <a:latin typeface="Calibri"/>
              </a:rPr>
              <a:t> 1 ➡ N Flashcard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1499616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latin typeface="Calibri"/>
              </a:rPr>
              <a:t>Contrat</a:t>
            </a:r>
            <a:r>
              <a:rPr sz="1400" b="1" i="0" dirty="0">
                <a:latin typeface="Calibri"/>
              </a:rPr>
              <a:t> API REST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1865376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669280" y="1865376"/>
            <a:ext cx="69494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0" y="1865376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191109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/api/auth/register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121408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Création de compte, retourne JWT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2359152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669280" y="2359152"/>
            <a:ext cx="69494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2359152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24048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/api/auth/login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2615184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Authentification, retourne JWT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2852928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69280" y="2852928"/>
            <a:ext cx="69494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80" y="2852928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898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/api/auth/me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31089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Informations de l'utilisateur courant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3346704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0" y="3346704"/>
            <a:ext cx="69494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346704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33924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/api/auth/profile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602736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Mise à jour nom, e-mail, mot de passe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3840480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669280" y="3840480"/>
            <a:ext cx="69494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669280" y="3840480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8862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/api/study/generate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409651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Génération IA (résumé / quiz / flashcards)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0" y="4334256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669280" y="4334256"/>
            <a:ext cx="69494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669280" y="4334256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37997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/api/history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590288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Liste des sessions (ordre décroissant)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0" y="4828032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669280" y="4828032"/>
            <a:ext cx="69494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69280" y="4828032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487375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/api/history/{id}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5084064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Session complète avec contenu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5321808"/>
            <a:ext cx="6217920" cy="45720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669280" y="5321808"/>
            <a:ext cx="694944" cy="4572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669280" y="5321808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536752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C4A6B"/>
                </a:solidFill>
                <a:latin typeface="Courier New"/>
              </a:rPr>
              <a:t>/api/history/{id}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0" y="557784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Suppression d'une session (204)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A7E8-C8CA-2837-8E94-C5AE0B6B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92EFE5-FEEF-549B-B777-E1E6249E15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ACB817-9BC3-4535-B3B9-F80AEDCF2377}"/>
              </a:ext>
            </a:extLst>
          </p:cNvPr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04571F-7382-4C03-085A-CBB30A701BB1}"/>
              </a:ext>
            </a:extLst>
          </p:cNvPr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>
            <a:extLst>
              <a:ext uri="{FF2B5EF4-FFF2-40B4-BE49-F238E27FC236}">
                <a16:creationId xmlns:a16="http://schemas.microsoft.com/office/drawing/2014/main" id="{36C05534-F97B-1E9D-C3AB-37235645A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>
            <a:extLst>
              <a:ext uri="{FF2B5EF4-FFF2-40B4-BE49-F238E27FC236}">
                <a16:creationId xmlns:a16="http://schemas.microsoft.com/office/drawing/2014/main" id="{55FBDA94-3B93-5EEE-197E-14A562EAA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9FCED4-83A8-C946-6F96-4E2DA2155B45}"/>
              </a:ext>
            </a:extLst>
          </p:cNvPr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D0CBE-7DA2-0BA9-60F3-A2DC9A6D1B4E}"/>
              </a:ext>
            </a:extLst>
          </p:cNvPr>
          <p:cNvSpPr txBox="1"/>
          <p:nvPr/>
        </p:nvSpPr>
        <p:spPr>
          <a:xfrm>
            <a:off x="228600" y="749808"/>
            <a:ext cx="502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2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B2CB9-B1F0-A27E-1998-AA34BCE67B1A}"/>
              </a:ext>
            </a:extLst>
          </p:cNvPr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3C4A6B"/>
                </a:solidFill>
                <a:latin typeface="Calibri"/>
              </a:rPr>
              <a:t>Démonstration</a:t>
            </a:r>
            <a:endParaRPr sz="2400" b="1" i="0" dirty="0">
              <a:solidFill>
                <a:srgbClr val="3C4A6B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7BA28-CF2F-8374-A871-48F556BCF4B5}"/>
              </a:ext>
            </a:extLst>
          </p:cNvPr>
          <p:cNvSpPr txBox="1"/>
          <p:nvPr/>
        </p:nvSpPr>
        <p:spPr>
          <a:xfrm>
            <a:off x="1978762" y="3202485"/>
            <a:ext cx="34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dirty="0">
                <a:latin typeface="Calibri"/>
              </a:rPr>
              <a:t>Un démo de l’application</a:t>
            </a:r>
            <a:endParaRPr sz="2400" b="1" dirty="0">
              <a:latin typeface="Calibri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2DA10388-77E0-7485-515B-4025957CF3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76"/>
          <a:stretch>
            <a:fillRect/>
          </a:stretch>
        </p:blipFill>
        <p:spPr>
          <a:xfrm>
            <a:off x="6524625" y="619759"/>
            <a:ext cx="3050335" cy="624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6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1148"/>
            <a:ext cx="1869034" cy="512064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41148"/>
            <a:ext cx="1400464" cy="5120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7315200" cy="3108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65196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AI Study Assistant  |  ENSA Berrechid  |  2025/2026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"/>
            <a:ext cx="63500" cy="5916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749808"/>
            <a:ext cx="502920" cy="402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749808"/>
            <a:ext cx="502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fr-FR" sz="1600" b="1" i="0" dirty="0">
                <a:solidFill>
                  <a:srgbClr val="FFFFFF"/>
                </a:solidFill>
                <a:latin typeface="Calibri"/>
              </a:rPr>
              <a:t>3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713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C4A6B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20700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Bilan du projet et axes d'amélioration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99616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Bilan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188366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✓  Application mobile native Android complète développée avec Java et Spring Boot.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" y="243230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✓  Intégration réussie de l'IA générative (Google Gemini) pour produire du contenu structuré.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298094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✓  Authentification sécurisée JWT avec BCrypt, isolation stricte des données par utilisateur.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" y="3529584"/>
            <a:ext cx="53035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1A233A"/>
                </a:solidFill>
                <a:latin typeface="Calibri"/>
              </a:rPr>
              <a:t>✓  </a:t>
            </a:r>
            <a:r>
              <a:rPr sz="1150" b="0" i="0" dirty="0" err="1">
                <a:solidFill>
                  <a:srgbClr val="1A233A"/>
                </a:solidFill>
                <a:latin typeface="Calibri"/>
              </a:rPr>
              <a:t>Suivi</a:t>
            </a:r>
            <a:r>
              <a:rPr sz="1150" b="0" i="0" dirty="0">
                <a:solidFill>
                  <a:srgbClr val="1A233A"/>
                </a:solidFill>
                <a:latin typeface="Calibri"/>
              </a:rPr>
              <a:t> local (quiz </a:t>
            </a:r>
            <a:r>
              <a:rPr sz="1150" b="0" i="0" dirty="0" err="1">
                <a:solidFill>
                  <a:srgbClr val="1A233A"/>
                </a:solidFill>
                <a:latin typeface="Calibri"/>
              </a:rPr>
              <a:t>échoués</a:t>
            </a:r>
            <a:r>
              <a:rPr sz="1150" b="0" i="0" dirty="0">
                <a:solidFill>
                  <a:srgbClr val="1A233A"/>
                </a:solidFill>
                <a:latin typeface="Calibri"/>
              </a:rPr>
              <a:t>, </a:t>
            </a:r>
            <a:r>
              <a:rPr sz="1150" b="0" i="0" dirty="0" err="1">
                <a:solidFill>
                  <a:srgbClr val="1A233A"/>
                </a:solidFill>
                <a:latin typeface="Calibri"/>
              </a:rPr>
              <a:t>révisions</a:t>
            </a:r>
            <a:r>
              <a:rPr sz="1150" b="0" i="0" dirty="0">
                <a:solidFill>
                  <a:srgbClr val="1A233A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A233A"/>
                </a:solidFill>
                <a:latin typeface="Calibri"/>
              </a:rPr>
              <a:t>ultérieures</a:t>
            </a:r>
            <a:r>
              <a:rPr sz="1150" b="0" i="0" dirty="0">
                <a:solidFill>
                  <a:srgbClr val="1A233A"/>
                </a:solidFill>
                <a:latin typeface="Calibri"/>
              </a:rPr>
              <a:t>)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407822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33A"/>
                </a:solidFill>
                <a:latin typeface="Calibri"/>
              </a:rPr>
              <a:t>✓  Architecture claire en trois couches facilitant l'évolution et la maintenance.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996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Perspectives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65376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1865376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8816" y="191109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Support multilingue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1396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Génération en arabe, anglais et français au choix de l'utilisateur.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78608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2578608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62432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Mode hors-ligne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8529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Mise en cache locale des sessions récentes pour un accès sans connexion.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91840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3291840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28816" y="33375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Notifications de révision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35661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Rappels espacés basés sur la courbe d'oubli d'Ebbinghaus.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05072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005072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28816" y="405079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Tableau de bord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42793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Visualisation des progrès : scores quiz, taux de révision, sujets couverts.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18304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4718304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28816" y="4764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Support 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9926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Portage vers Flutter ou React Native pour toucher un public plus large.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431536"/>
            <a:ext cx="5394960" cy="64008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0" y="5431536"/>
            <a:ext cx="508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28816" y="54772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Collaboration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57058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Partage de sessions d'étude entre étudiants d'un même groupe.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__Users_ULTRA_PC_AppData_Roaming_Cursor_User_workspaceStorage_3b4ff012fd83c7aa3bc95b80ca8c479e_images_ensablogo-4c055e56-104e-49f3-a067-dc759b277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937053" cy="804672"/>
          </a:xfrm>
          <a:prstGeom prst="rect">
            <a:avLst/>
          </a:prstGeom>
        </p:spPr>
      </p:pic>
      <p:pic>
        <p:nvPicPr>
          <p:cNvPr id="6" name="Picture 5" descr="c__Users_ULTRA_PC_AppData_Roaming_Cursor_User_workspaceStorage_3b4ff012fd83c7aa3bc95b80ca8c479e_images_hassan1-4bed2970-4ed2-47a7-a49f-bf5653a7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200729" cy="8046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115568"/>
            <a:ext cx="109728" cy="5394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081967" y="1115568"/>
            <a:ext cx="109728" cy="5394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C4A6B"/>
                </a:solidFill>
                <a:latin typeface="Calibri Light"/>
              </a:rPr>
              <a:t>Merci de votre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944368"/>
            <a:ext cx="393192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AI Study Assistant – Application mobile intelligente d'aide à l'apprentissage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3327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 dirty="0" err="1">
                <a:solidFill>
                  <a:srgbClr val="1A233A"/>
                </a:solidFill>
                <a:latin typeface="Calibri"/>
              </a:rPr>
              <a:t>Mjahdi</a:t>
            </a:r>
            <a:r>
              <a:rPr sz="1350" b="1" i="0" dirty="0">
                <a:solidFill>
                  <a:srgbClr val="1A233A"/>
                </a:solidFill>
                <a:latin typeface="Calibri"/>
              </a:rPr>
              <a:t> Abdel</a:t>
            </a:r>
            <a:r>
              <a:rPr lang="fr-FR" sz="1350" b="1" i="0" dirty="0">
                <a:solidFill>
                  <a:srgbClr val="1A233A"/>
                </a:solidFill>
                <a:latin typeface="Calibri"/>
              </a:rPr>
              <a:t>ou</a:t>
            </a:r>
            <a:r>
              <a:rPr sz="1350" b="1" i="0" dirty="0" err="1">
                <a:solidFill>
                  <a:srgbClr val="1A233A"/>
                </a:solidFill>
                <a:latin typeface="Calibri"/>
              </a:rPr>
              <a:t>ahab</a:t>
            </a:r>
            <a:r>
              <a:rPr sz="1350" b="1" i="0" dirty="0">
                <a:solidFill>
                  <a:srgbClr val="1A233A"/>
                </a:solidFill>
                <a:latin typeface="Calibri"/>
              </a:rPr>
              <a:t>  &amp;  Zakaria </a:t>
            </a:r>
            <a:r>
              <a:rPr sz="1350" b="1" i="0" dirty="0" err="1">
                <a:solidFill>
                  <a:srgbClr val="1A233A"/>
                </a:solidFill>
                <a:latin typeface="Calibri"/>
              </a:rPr>
              <a:t>Ennaqui</a:t>
            </a:r>
            <a:endParaRPr sz="1350" b="1" i="0" dirty="0">
              <a:solidFill>
                <a:srgbClr val="1A233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39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Encadrant : Prof. Abdsamad Jarrar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39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Filière Génie Informatique  |  Module Développement Mobile  |  S8  | 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39"/>
            <a:ext cx="10332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ENSA Berrechid  |  Université Hassan 1er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483096"/>
            <a:ext cx="11612880" cy="3474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AI Study Assistant  |  ENSA Berrechid  |  2025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2278</Words>
  <Application>Microsoft Office PowerPoint</Application>
  <PresentationFormat>Widescreen</PresentationFormat>
  <Paragraphs>399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zakaria ennaqui</cp:lastModifiedBy>
  <cp:revision>3</cp:revision>
  <dcterms:created xsi:type="dcterms:W3CDTF">2013-01-27T09:14:16Z</dcterms:created>
  <dcterms:modified xsi:type="dcterms:W3CDTF">2026-05-13T09:38:22Z</dcterms:modified>
  <cp:category/>
</cp:coreProperties>
</file>